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73" r:id="rId16"/>
    <p:sldId id="269" r:id="rId17"/>
    <p:sldId id="274" r:id="rId18"/>
    <p:sldId id="275" r:id="rId19"/>
    <p:sldId id="276" r:id="rId20"/>
    <p:sldId id="277" r:id="rId21"/>
    <p:sldId id="278" r:id="rId22"/>
    <p:sldId id="279" r:id="rId23"/>
    <p:sldId id="270" r:id="rId24"/>
    <p:sldId id="271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performance</c:v>
                </c:pt>
              </c:strCache>
            </c:strRef>
          </c:tx>
          <c:spPr>
            <a:solidFill>
              <a:srgbClr val="BD557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Users → Download  (0.02)</c:v>
                </c:pt>
                <c:pt idx="1">
                  <c:v>Download → Upload  (-0.02)</c:v>
                </c:pt>
                <c:pt idx="2">
                  <c:v>Congestion → Download  (0.00)</c:v>
                </c:pt>
                <c:pt idx="3">
                  <c:v>Congestion → Upload  (-0.01)</c:v>
                </c:pt>
                <c:pt idx="4">
                  <c:v>Congestion → Latency  (0.31)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</c:v>
                </c:pt>
                <c:pt idx="1">
                  <c:v>-0.02</c:v>
                </c:pt>
                <c:pt idx="2">
                  <c:v>0</c:v>
                </c:pt>
                <c:pt idx="3">
                  <c:v>-0.01</c:v>
                </c:pt>
                <c:pt idx="4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A-444F-B9D6-0A347221D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1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-0.2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14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5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0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1005840" cy="1005840"/>
          </a:xfrm>
          <a:prstGeom prst="ellipse">
            <a:avLst/>
          </a:prstGeom>
          <a:ln w="17780">
            <a:solidFill>
              <a:srgbClr val="7A356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7909560" y="685800"/>
            <a:ext cx="2011680" cy="2011680"/>
          </a:xfrm>
          <a:prstGeom prst="ellipse">
            <a:avLst/>
          </a:prstGeom>
          <a:ln w="17780">
            <a:solidFill>
              <a:srgbClr val="7A356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3017520" cy="3017520"/>
          </a:xfrm>
          <a:prstGeom prst="ellipse">
            <a:avLst/>
          </a:prstGeom>
          <a:ln w="17780">
            <a:solidFill>
              <a:srgbClr val="7A356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7A356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6" name="Image 0" descr="/home/claude/work/icons/tower_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16128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E9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ANALYTICS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Performance Analysis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A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network data to decisions — Python analysis, machine learning,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A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interactive Power BI, Tableau &amp; Excel dashboards.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349240"/>
            <a:ext cx="2395728" cy="566928"/>
          </a:xfrm>
          <a:prstGeom prst="roundRect">
            <a:avLst>
              <a:gd name="adj" fmla="val 16129"/>
            </a:avLst>
          </a:prstGeom>
          <a:solidFill>
            <a:srgbClr val="72245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1" name="Image 1" descr="/home/claude/work/icons/python_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4681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5349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(EDA + ML)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64992" y="5349240"/>
            <a:ext cx="2395728" cy="566928"/>
          </a:xfrm>
          <a:prstGeom prst="roundRect">
            <a:avLst>
              <a:gd name="adj" fmla="val 16129"/>
            </a:avLst>
          </a:prstGeom>
          <a:solidFill>
            <a:srgbClr val="72245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4" name="Image 2" descr="/home/claude/work/icons/chartpie_cr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546811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67912" y="5349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07024" y="5349240"/>
            <a:ext cx="2395728" cy="566928"/>
          </a:xfrm>
          <a:prstGeom prst="roundRect">
            <a:avLst>
              <a:gd name="adj" fmla="val 16129"/>
            </a:avLst>
          </a:prstGeom>
          <a:solidFill>
            <a:srgbClr val="72245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7" name="Image 3" descr="/home/claude/work/icons/chartbar_cr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546811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9944" y="5349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449056" y="5349240"/>
            <a:ext cx="2395728" cy="566928"/>
          </a:xfrm>
          <a:prstGeom prst="roundRect">
            <a:avLst>
              <a:gd name="adj" fmla="val 16129"/>
            </a:avLst>
          </a:prstGeom>
          <a:solidFill>
            <a:srgbClr val="72245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0" name="Image 4" descr="/home/claude/work/icons/fileexcel_cre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5468112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51976" y="5349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Python · Power BI · Tableau · Excel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6583680" cy="1554480"/>
          </a:xfrm>
          <a:prstGeom prst="roundRect">
            <a:avLst>
              <a:gd name="adj" fmla="val 5882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868680" y="155448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factors have the greatest impact on</a:t>
            </a:r>
            <a:endParaRPr lang="en-US" sz="1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network performance?”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tests four candidate drivers of download speed, upload speed, and latency: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420624" cy="42062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0" name="Image 1" descr="/home/claude/work/icons/cloudsu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15" y="3753795"/>
            <a:ext cx="319674" cy="3196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70332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306824"/>
            <a:ext cx="420624" cy="42062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3" name="Image 2" descr="/home/claude/work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15" y="4357299"/>
            <a:ext cx="319674" cy="3196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306824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connected users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4910328"/>
            <a:ext cx="420624" cy="42062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6" name="Image 3" descr="/home/claude/work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15" y="4960803"/>
            <a:ext cx="319674" cy="3196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910328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(hour)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5513832"/>
            <a:ext cx="420624" cy="42062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9" name="Image 4" descr="/home/claude/work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115" y="5564307"/>
            <a:ext cx="319674" cy="3196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0" y="5513832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congestion level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452360" y="1417320"/>
            <a:ext cx="4206240" cy="4754880"/>
          </a:xfrm>
          <a:prstGeom prst="roundRect">
            <a:avLst>
              <a:gd name="adj" fmla="val 2174"/>
            </a:avLst>
          </a:prstGeom>
          <a:solidFill>
            <a:srgbClr val="FBF2F6"/>
          </a:solidFill>
          <a:ln w="12700">
            <a:solidFill>
              <a:srgbClr val="EBD3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15"/>
          <p:cNvSpPr/>
          <p:nvPr/>
        </p:nvSpPr>
        <p:spPr>
          <a:xfrm>
            <a:off x="772668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726680" y="20574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3,605</a:t>
            </a:r>
            <a:endParaRPr lang="en-US" sz="3000" dirty="0"/>
          </a:p>
        </p:txBody>
      </p:sp>
      <p:sp>
        <p:nvSpPr>
          <p:cNvPr id="24" name="Text 17"/>
          <p:cNvSpPr/>
          <p:nvPr/>
        </p:nvSpPr>
        <p:spPr>
          <a:xfrm>
            <a:off x="7726680" y="2624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network readings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726680" y="308152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26" name="Text 19"/>
          <p:cNvSpPr/>
          <p:nvPr/>
        </p:nvSpPr>
        <p:spPr>
          <a:xfrm>
            <a:off x="7726680" y="36484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per reading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726680" y="41056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7726680" y="46725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726680" y="512978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0" name="Text 23"/>
          <p:cNvSpPr/>
          <p:nvPr/>
        </p:nvSpPr>
        <p:spPr>
          <a:xfrm>
            <a:off x="7726680" y="5696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726680" y="619963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timestamp, tower_id, users_connected, download_speed, upload_speed, latency, weather, congestion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list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Workflow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713232" y="16184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9D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401568" y="1655064"/>
            <a:ext cx="475488" cy="475488"/>
          </a:xfrm>
          <a:prstGeom prst="ellipse">
            <a:avLst/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9" name="Image 1" descr="/home/claude/work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627" y="1712123"/>
            <a:ext cx="361371" cy="3613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Load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520" y="26791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network readings into pandas; import numpy, seaborn, matplotlib, scikit-learn.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34256" y="150876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9"/>
          <p:cNvSpPr/>
          <p:nvPr/>
        </p:nvSpPr>
        <p:spPr>
          <a:xfrm>
            <a:off x="4498848" y="16184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9D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187184" y="1655064"/>
            <a:ext cx="475488" cy="475488"/>
          </a:xfrm>
          <a:prstGeom prst="ellipse">
            <a:avLst/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5" name="Image 2" descr="/home/claude/work/icons/magnif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243" y="1712123"/>
            <a:ext cx="361371" cy="3613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17136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17136" y="26791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shape, dtypes, summary stats; check nulls, duplicates and IQR outliers.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19872" y="150876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4"/>
          <p:cNvSpPr/>
          <p:nvPr/>
        </p:nvSpPr>
        <p:spPr>
          <a:xfrm>
            <a:off x="8284464" y="16184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9D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10972800" y="1655064"/>
            <a:ext cx="475488" cy="475488"/>
          </a:xfrm>
          <a:prstGeom prst="ellipse">
            <a:avLst/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1" name="Image 3" descr="/home/claude/work/icons/broo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9859" y="1712123"/>
            <a:ext cx="361371" cy="36137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02752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302752" y="26791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timestamp to datetime; engineer an hour-of-day feature.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1148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9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19"/>
          <p:cNvSpPr/>
          <p:nvPr/>
        </p:nvSpPr>
        <p:spPr>
          <a:xfrm>
            <a:off x="713232" y="4224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9D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3401568" y="4261104"/>
            <a:ext cx="475488" cy="475488"/>
          </a:xfrm>
          <a:prstGeom prst="ellipse">
            <a:avLst/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7" name="Image 4" descr="/home/claude/work/icons/questio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8627" y="4318163"/>
            <a:ext cx="361371" cy="36137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Answer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31520" y="528523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6 business questions on weather, users, time and congestion.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334256" y="41148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9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1" name="Text 24"/>
          <p:cNvSpPr/>
          <p:nvPr/>
        </p:nvSpPr>
        <p:spPr>
          <a:xfrm>
            <a:off x="4498848" y="4224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9D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25"/>
          <p:cNvSpPr/>
          <p:nvPr/>
        </p:nvSpPr>
        <p:spPr>
          <a:xfrm>
            <a:off x="7187184" y="4261104"/>
            <a:ext cx="475488" cy="475488"/>
          </a:xfrm>
          <a:prstGeom prst="ellipse">
            <a:avLst/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3" name="Image 5" descr="/home/claude/work/icons/chart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4243" y="4318163"/>
            <a:ext cx="361371" cy="36137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17136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517136" y="528523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scatter plots, regression and bar-chart visuals for each finding.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119872" y="41148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9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7" name="Text 29"/>
          <p:cNvSpPr/>
          <p:nvPr/>
        </p:nvSpPr>
        <p:spPr>
          <a:xfrm>
            <a:off x="8284464" y="4224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9D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10972800" y="4261104"/>
            <a:ext cx="475488" cy="475488"/>
          </a:xfrm>
          <a:prstGeom prst="ellipse">
            <a:avLst/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9" name="Image 6" descr="/home/claude/work/icons/brain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29859" y="4318163"/>
            <a:ext cx="361371" cy="361371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302752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8302752" y="528523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Linear Regression model to predict download speed.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Weather Affect Performance?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717894" cy="640080"/>
          </a:xfrm>
          <a:prstGeom prst="roundRect">
            <a:avLst>
              <a:gd name="adj" fmla="val 11429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53521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Does weather condition affect network performance?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717894" cy="1417320"/>
          </a:xfrm>
          <a:prstGeom prst="roundRect">
            <a:avLst>
              <a:gd name="adj" fmla="val 5161"/>
            </a:avLst>
          </a:prstGeom>
          <a:solidFill>
            <a:srgbClr val="FBF2F6"/>
          </a:solidFill>
          <a:ln w="12700">
            <a:solidFill>
              <a:srgbClr val="EBD3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9808" y="2505456"/>
            <a:ext cx="531555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speed, upload speed and latency show only small differences across weather conditions in the heatmap.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5717894" cy="1417320"/>
          </a:xfrm>
          <a:prstGeom prst="roundRect">
            <a:avLst>
              <a:gd name="adj" fmla="val 5161"/>
            </a:avLst>
          </a:prstGeom>
          <a:solidFill>
            <a:srgbClr val="FFF9EE"/>
          </a:solidFill>
          <a:ln w="12700">
            <a:solidFill>
              <a:srgbClr val="F3E4C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9808" y="4059936"/>
            <a:ext cx="53155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does not appear to be a major factor affecting network performance in this dataset.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59142" y="1481328"/>
            <a:ext cx="5154322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5875">
            <a:solidFill>
              <a:srgbClr val="E7D6DE"/>
            </a:solidFill>
            <a:prstDash val="solid"/>
          </a:ln>
          <a:effectLst>
            <a:outerShdw blurRad="101600" dist="38100" dir="5400000" algn="bl" rotWithShape="0">
              <a:srgbClr val="601D49">
                <a:alpha val="18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pic>
        <p:nvPicPr>
          <p:cNvPr id="13" name="Image 1" descr="/home/claude/work/nb_cell31_0_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294" y="1554480"/>
            <a:ext cx="5008018" cy="4160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More Users Slow the Network?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259420" y="1554480"/>
            <a:ext cx="5380892" cy="640080"/>
          </a:xfrm>
          <a:prstGeom prst="roundRect">
            <a:avLst>
              <a:gd name="adj" fmla="val 11429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6442300" y="1554480"/>
            <a:ext cx="50151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Does the number of connected users affect performance?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59420" y="2377440"/>
            <a:ext cx="5380892" cy="1417320"/>
          </a:xfrm>
          <a:prstGeom prst="roundRect">
            <a:avLst>
              <a:gd name="adj" fmla="val 5161"/>
            </a:avLst>
          </a:prstGeom>
          <a:solidFill>
            <a:srgbClr val="FBF2F6"/>
          </a:solidFill>
          <a:ln w="12700">
            <a:solidFill>
              <a:srgbClr val="EBD3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6460588" y="2505456"/>
            <a:ext cx="497855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between connected users and download speed is only 0.02 — effectively zero.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59420" y="3931920"/>
            <a:ext cx="5380892" cy="1417320"/>
          </a:xfrm>
          <a:prstGeom prst="roundRect">
            <a:avLst>
              <a:gd name="adj" fmla="val 5161"/>
            </a:avLst>
          </a:prstGeom>
          <a:solidFill>
            <a:srgbClr val="FFF9EE"/>
          </a:solidFill>
          <a:ln w="12700">
            <a:solidFill>
              <a:srgbClr val="F3E4C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6460588" y="4059936"/>
            <a:ext cx="49785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connected users shows no significant linear relationship with download speed in this dataset.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" y="1481328"/>
            <a:ext cx="549132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5875">
            <a:solidFill>
              <a:srgbClr val="E7D6DE"/>
            </a:solidFill>
            <a:prstDash val="solid"/>
          </a:ln>
          <a:effectLst>
            <a:outerShdw blurRad="101600" dist="38100" dir="5400000" algn="bl" rotWithShape="0">
              <a:srgbClr val="601D49">
                <a:alpha val="18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pic>
        <p:nvPicPr>
          <p:cNvPr id="13" name="Image 1" descr="/home/claude/work/nb_cell33_1_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5345020" cy="4160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&amp; Worst Performance Hours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216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Worst hours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93776" y="1545336"/>
            <a:ext cx="3538728" cy="2803153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5875">
            <a:solidFill>
              <a:srgbClr val="E7D6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8" name="Image 1" descr="/home/claude/work/nb_cell35_2_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3429000" cy="26934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494793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6"/>
          <p:cNvSpPr/>
          <p:nvPr/>
        </p:nvSpPr>
        <p:spPr>
          <a:xfrm>
            <a:off x="548640" y="4494793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hour: </a:t>
            </a:r>
            <a:r>
              <a:rPr lang="en-US" sz="12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AM  •  score 0.18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251960" y="1216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Best hours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197096" y="1545336"/>
            <a:ext cx="3538728" cy="2796821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15875">
            <a:solidFill>
              <a:srgbClr val="E7D6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13" name="Image 2" descr="/home/claude/work/nb_cell37_3_tr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600200"/>
            <a:ext cx="3429000" cy="268709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51960" y="4488461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FFF9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0"/>
          <p:cNvSpPr/>
          <p:nvPr/>
        </p:nvSpPr>
        <p:spPr>
          <a:xfrm>
            <a:off x="4251960" y="4488461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hour: </a:t>
            </a:r>
            <a:r>
              <a:rPr lang="en-US" sz="12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PM  •  score 0.80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55280" y="1600200"/>
            <a:ext cx="3685032" cy="1965960"/>
          </a:xfrm>
          <a:prstGeom prst="roundRect">
            <a:avLst>
              <a:gd name="adj" fmla="val 3721"/>
            </a:avLst>
          </a:prstGeom>
          <a:solidFill>
            <a:srgbClr val="FBF2F6"/>
          </a:solidFill>
          <a:ln w="12700">
            <a:solidFill>
              <a:srgbClr val="EBD3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2"/>
          <p:cNvSpPr/>
          <p:nvPr/>
        </p:nvSpPr>
        <p:spPr>
          <a:xfrm>
            <a:off x="8156448" y="1728216"/>
            <a:ext cx="3282696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speed is lowest at 09:00 (46.14 Mbps) and highest at 18:00 (58.14 Mbps). Upload speed is lowest at 22:00 (22.91 Mbps) and highest at 15:00 (27.04 Mbps). Latency is highest (worst) at 14:00 (112.96 ms) and lowest (best) at 08:00 (96.16 ms).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955280" y="374904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FFF9EE"/>
          </a:solidFill>
          <a:ln w="12700">
            <a:solidFill>
              <a:srgbClr val="F3E4C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4"/>
          <p:cNvSpPr/>
          <p:nvPr/>
        </p:nvSpPr>
        <p:spPr>
          <a:xfrm>
            <a:off x="8156448" y="3877056"/>
            <a:ext cx="32826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kern="0" spc="100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
</a:t>
            </a:r>
            <a:r>
              <a:rPr lang="en-US" sz="12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worst or best hour across all metrics — but time of day clearly shapes performance, useful for capacity planning.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Speed vs Upload Speed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503627" cy="640080"/>
          </a:xfrm>
          <a:prstGeom prst="roundRect">
            <a:avLst>
              <a:gd name="adj" fmla="val 11429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513786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Is there a relationship between download and upload speed?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503627" cy="1417320"/>
          </a:xfrm>
          <a:prstGeom prst="roundRect">
            <a:avLst>
              <a:gd name="adj" fmla="val 5161"/>
            </a:avLst>
          </a:prstGeom>
          <a:solidFill>
            <a:srgbClr val="FBF2F6"/>
          </a:solidFill>
          <a:ln w="12700">
            <a:solidFill>
              <a:srgbClr val="EBD3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49808" y="2505456"/>
            <a:ext cx="5101291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between download speed and upload speed is -0.02 — very close to zero, with a nearly flat trend line.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5503627" cy="1417320"/>
          </a:xfrm>
          <a:prstGeom prst="roundRect">
            <a:avLst>
              <a:gd name="adj" fmla="val 5161"/>
            </a:avLst>
          </a:prstGeom>
          <a:solidFill>
            <a:srgbClr val="FFF9EE"/>
          </a:solidFill>
          <a:ln w="12700">
            <a:solidFill>
              <a:srgbClr val="F3E4C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749808" y="4059936"/>
            <a:ext cx="5101291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clear linear relationship between download speed and upload speed in this dataset.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44875" y="1481328"/>
            <a:ext cx="5368589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5875">
            <a:solidFill>
              <a:srgbClr val="E7D6DE"/>
            </a:solidFill>
            <a:prstDash val="solid"/>
          </a:ln>
          <a:effectLst>
            <a:outerShdw blurRad="101600" dist="38100" dir="5400000" algn="bl" rotWithShape="0">
              <a:srgbClr val="601D49">
                <a:alpha val="18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pic>
        <p:nvPicPr>
          <p:cNvPr id="13" name="Image 1" descr="/home/claude/work/nb_cell39_4_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027" y="1554480"/>
            <a:ext cx="5222285" cy="4160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Congestion Hurt Performance?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222807" y="1554480"/>
            <a:ext cx="5417505" cy="640080"/>
          </a:xfrm>
          <a:prstGeom prst="roundRect">
            <a:avLst>
              <a:gd name="adj" fmla="val 11429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6405687" y="1554480"/>
            <a:ext cx="50517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Does network congestion affect performance?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22807" y="2377440"/>
            <a:ext cx="5417505" cy="1417320"/>
          </a:xfrm>
          <a:prstGeom prst="roundRect">
            <a:avLst>
              <a:gd name="adj" fmla="val 5161"/>
            </a:avLst>
          </a:prstGeom>
          <a:solidFill>
            <a:srgbClr val="FBF2F6"/>
          </a:solidFill>
          <a:ln w="12700">
            <a:solidFill>
              <a:srgbClr val="EBD3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6423975" y="2505456"/>
            <a:ext cx="5015169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shows almost no linear relationship with download or upload speed (correlation ≈ 0.00 and -0.01) — but a moderate positive correlation of 0.31 with latency.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22807" y="3931920"/>
            <a:ext cx="5417505" cy="1417320"/>
          </a:xfrm>
          <a:prstGeom prst="roundRect">
            <a:avLst>
              <a:gd name="adj" fmla="val 5161"/>
            </a:avLst>
          </a:prstGeom>
          <a:solidFill>
            <a:srgbClr val="FFF9EE"/>
          </a:solidFill>
          <a:ln w="12700">
            <a:solidFill>
              <a:srgbClr val="F3E4C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6423975" y="4059936"/>
            <a:ext cx="501516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kern="0" spc="100" dirty="0">
                <a:solidFill>
                  <a:srgbClr val="B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is the first factor to show a clear linear effect — but that effect lands on latency, not on download or upload speed.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" y="1481328"/>
            <a:ext cx="5454711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5875">
            <a:solidFill>
              <a:srgbClr val="E7D6DE"/>
            </a:solidFill>
            <a:prstDash val="solid"/>
          </a:ln>
          <a:effectLst>
            <a:outerShdw blurRad="101600" dist="38100" dir="5400000" algn="bl" rotWithShape="0">
              <a:srgbClr val="601D49">
                <a:alpha val="18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pic>
        <p:nvPicPr>
          <p:cNvPr id="13" name="Image 1" descr="/home/claude/work/nb_cell41_5_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5308407" cy="4160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magnif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Summary Across All Factors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781812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relationship stood out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818120" y="2148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BF2F6"/>
          </a:solidFill>
          <a:ln w="12700">
            <a:solidFill>
              <a:srgbClr val="EBD3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5"/>
          <p:cNvSpPr/>
          <p:nvPr/>
        </p:nvSpPr>
        <p:spPr>
          <a:xfrm>
            <a:off x="8019288" y="2286000"/>
            <a:ext cx="343814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
</a:t>
            </a:r>
            <a:r>
              <a:rPr lang="en-US" sz="13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→ Latency
</a:t>
            </a: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moderate correlation found across every factor tested.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7818120" y="4160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correlations sit between -0.02 and 0.02 — essentially no linear relationship.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Download Speed?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BF2F6"/>
          </a:solidFill>
          <a:ln w="12700">
            <a:solidFill>
              <a:srgbClr val="EBD3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749808" y="16459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
</a:t>
            </a:r>
            <a:r>
              <a:rPr lang="en-US" sz="130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trained on an 80 / 20 split with one-hot encoded weather.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548640" y="3383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users_connected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86584" y="33832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2386584" y="3383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upload_speed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24528" y="33832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4224528" y="3383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98678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548640" y="3986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386584" y="398678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2386584" y="3986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24528" y="398678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4224528" y="3986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029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99D9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Text 20"/>
          <p:cNvSpPr/>
          <p:nvPr/>
        </p:nvSpPr>
        <p:spPr>
          <a:xfrm>
            <a:off x="548640" y="5029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download_speed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89320" y="150876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FF9EE"/>
          </a:solidFill>
          <a:ln w="12700">
            <a:solidFill>
              <a:srgbClr val="F3E4C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6217920" y="163677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23.55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8092440" y="163677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
</a:t>
            </a:r>
            <a:r>
              <a:rPr lang="en-US" sz="105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 average error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989320" y="274320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FF9EE"/>
          </a:solidFill>
          <a:ln w="12700">
            <a:solidFill>
              <a:srgbClr val="F3E4C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5"/>
          <p:cNvSpPr/>
          <p:nvPr/>
        </p:nvSpPr>
        <p:spPr>
          <a:xfrm>
            <a:off x="6217920" y="287121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27.42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8092440" y="287121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
</a:t>
            </a:r>
            <a:r>
              <a:rPr lang="en-US" sz="105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 root-mean-sq. error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989320" y="397764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FF9EE"/>
          </a:solidFill>
          <a:ln w="12700">
            <a:solidFill>
              <a:srgbClr val="F3E4C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1" name="Text 28"/>
          <p:cNvSpPr/>
          <p:nvPr/>
        </p:nvSpPr>
        <p:spPr>
          <a:xfrm>
            <a:off x="6217920" y="410565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0.0011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8092440" y="410565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
</a:t>
            </a:r>
            <a:r>
              <a:rPr lang="en-US" sz="105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zero explanatory power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5989320" y="525780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4" name="Text 31"/>
          <p:cNvSpPr/>
          <p:nvPr/>
        </p:nvSpPr>
        <p:spPr>
          <a:xfrm>
            <a:off x="6217920" y="537667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R² close to zero confirms: no single available feature strongly or directly predicts download speed.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0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9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PYTHON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Interactive Dashboards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network data was rebuilt as live, filterable dashboards in three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BI tools — each suited to a different audience and workflow.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72245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2130552" y="3520440"/>
            <a:ext cx="768096" cy="768096"/>
          </a:xfrm>
          <a:prstGeom prst="ellipse">
            <a:avLst/>
          </a:prstGeom>
          <a:solidFill>
            <a:srgbClr val="FFEBB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7" name="Image 0" descr="/home/claude/work/icons/chartpie_pl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724" y="3612612"/>
            <a:ext cx="583753" cy="5837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434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4892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A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overview with regional slicers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5696" y="324612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72245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Shape 8"/>
          <p:cNvSpPr/>
          <p:nvPr/>
        </p:nvSpPr>
        <p:spPr>
          <a:xfrm>
            <a:off x="5733288" y="3520440"/>
            <a:ext cx="768096" cy="768096"/>
          </a:xfrm>
          <a:prstGeom prst="ellipse">
            <a:avLst/>
          </a:prstGeom>
          <a:solidFill>
            <a:srgbClr val="FFEBB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2" name="Image 1" descr="/home/claude/work/icons/chartbar_pl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460" y="3612612"/>
            <a:ext cx="583753" cy="5837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25696" y="4434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54296" y="4892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A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15-view exploratory analysis workbook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28432" y="324612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72245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Shape 12"/>
          <p:cNvSpPr/>
          <p:nvPr/>
        </p:nvSpPr>
        <p:spPr>
          <a:xfrm>
            <a:off x="9336024" y="3520440"/>
            <a:ext cx="768096" cy="768096"/>
          </a:xfrm>
          <a:prstGeom prst="ellipse">
            <a:avLst/>
          </a:prstGeom>
          <a:solidFill>
            <a:srgbClr val="FFEBB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7" name="Image 2" descr="/home/claude/work/icons/fileexcel_pl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8196" y="3612612"/>
            <a:ext cx="583753" cy="58375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28432" y="4434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257032" y="4892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A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Pivot-table congestion &amp; capacity dashboard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chartp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Network Performance Overview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executive page combining KPI cards, distribution charts and a time trend, filterable by region, city and weather.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9" name="Image 1" descr="/home/claude/work/icons/gau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476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6809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download speed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upload speed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latency recorded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9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Shape 9"/>
          <p:cNvSpPr/>
          <p:nvPr/>
        </p:nvSpPr>
        <p:spPr>
          <a:xfrm>
            <a:off x="4498848" y="1892808"/>
            <a:ext cx="457200" cy="457200"/>
          </a:xfrm>
          <a:prstGeom prst="ellipse">
            <a:avLst/>
          </a:prstGeom>
          <a:solidFill>
            <a:srgbClr val="B8863A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4" name="Image 2" descr="/home/claude/work/icons/chartp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9476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492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Charts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1713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Donut: connected users by network type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Donut: tower count &amp; avg. latency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Pie: reading count by weather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Shape 13"/>
          <p:cNvSpPr/>
          <p:nvPr/>
        </p:nvSpPr>
        <p:spPr>
          <a:xfrm>
            <a:off x="8247888" y="1892808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9" name="Image 3" descr="/home/claude/work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94767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2396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Detail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26617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avg. download &amp; upload speed over time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connected users vs. download speed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region, city &amp; weather filters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Shape 17"/>
          <p:cNvSpPr/>
          <p:nvPr/>
        </p:nvSpPr>
        <p:spPr>
          <a:xfrm>
            <a:off x="777240" y="5084064"/>
            <a:ext cx="566928" cy="566928"/>
          </a:xfrm>
          <a:prstGeom prst="ellipse">
            <a:avLst/>
          </a:prstGeom>
          <a:solidFill>
            <a:srgbClr val="FFEBB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4" name="Image 4" descr="/home/claude/work/icons/lightbulb_plu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" y="5152095"/>
            <a:ext cx="430865" cy="43086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495604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kern="0" spc="100" dirty="0">
                <a:solidFill>
                  <a:srgbClr val="E9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and stakeholders who need a fast, at-a-glance read on network health by region.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D5578"/>
                </a:solidFill>
                <a:latin typeface="Calibri"/>
              </a:rPr>
              <a:t>DASHBOARD 01 — SCREENSHOT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676656"/>
            <a:ext cx="1038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3A2233"/>
                </a:solidFill>
                <a:latin typeface="Cambria"/>
              </a:rPr>
              <a:t>Power BI — Inside the Network Performance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72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8A7A82"/>
                </a:solidFill>
                <a:latin typeface="Calibri"/>
              </a:rPr>
              <a:t>The live report page, built on the same cleaned dataset, with cross-filtering slicers for tower ID, install year, region/city, weather and network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07821"/>
            <a:ext cx="6950000" cy="3924357"/>
          </a:xfrm>
          <a:prstGeom prst="roundRect">
            <a:avLst>
              <a:gd name="adj" fmla="val 6000"/>
            </a:avLst>
          </a:prstGeom>
          <a:solidFill>
            <a:srgbClr val="FB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18640" y="1620000"/>
            <a:ext cx="392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BD5578"/>
                </a:solidFill>
                <a:latin typeface="Calibri"/>
              </a:rPr>
              <a:t>What each visual on the page shows</a:t>
            </a:r>
          </a:p>
        </p:txBody>
      </p:sp>
      <p:sp>
        <p:nvSpPr>
          <p:cNvPr id="9" name="Oval 8"/>
          <p:cNvSpPr/>
          <p:nvPr/>
        </p:nvSpPr>
        <p:spPr>
          <a:xfrm>
            <a:off x="7718640" y="1990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8640" y="1960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KPI cards up 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640" y="2220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Average download speed (52.88 Mbps), average upload speed (24.71 Mbps) and max latency (199.49 ms) update live as slicers change.</a:t>
            </a:r>
          </a:p>
        </p:txBody>
      </p:sp>
      <p:sp>
        <p:nvSpPr>
          <p:cNvPr id="12" name="Oval 11"/>
          <p:cNvSpPr/>
          <p:nvPr/>
        </p:nvSpPr>
        <p:spPr>
          <a:xfrm>
            <a:off x="7718640" y="2874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8640" y="2844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Latency &amp; users donuts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640" y="3104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 donut shows average latency by tower_id (106.28 ms for the selected towers), and a second donut sums connected users by network type — 274K on 4G.</a:t>
            </a:r>
          </a:p>
        </p:txBody>
      </p:sp>
      <p:sp>
        <p:nvSpPr>
          <p:cNvPr id="15" name="Oval 14"/>
          <p:cNvSpPr/>
          <p:nvPr/>
        </p:nvSpPr>
        <p:spPr>
          <a:xfrm>
            <a:off x="7718640" y="3758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8640" y="3728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Speed trend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8640" y="3988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Average download vs. upload speed plotted by year, quarter, month and day, so drops or spikes over the trial period are easy to spot.</a:t>
            </a:r>
          </a:p>
        </p:txBody>
      </p:sp>
      <p:sp>
        <p:nvSpPr>
          <p:cNvPr id="18" name="Oval 17"/>
          <p:cNvSpPr/>
          <p:nvPr/>
        </p:nvSpPr>
        <p:spPr>
          <a:xfrm>
            <a:off x="7718640" y="4642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8640" y="4612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Scatter + weather donut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640" y="4872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 users-connected vs. download-speed scatter checks for a load effect, and a weather donut confirms the sample used is filtered to Clear conditions.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7718640" y="5526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8640" y="5496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Slicer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8640" y="5756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Tower ID range slider, install year, region/city, weather and network type let a viewer isolate any slice of the network in one click.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Telecom Network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13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0DDF831-B8CA-DB6E-7444-28D336F09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31" y="1990000"/>
            <a:ext cx="6942009" cy="40155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chart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— Exploratory Analysis Workbook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“Dashboard 1” assembles 15 focused worksheets into one filterable exploratory view of network health.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9" name="Image 1" descr="/home/claude/work/icons/gau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476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6809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download speed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upload speed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latency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connected users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9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Shape 9"/>
          <p:cNvSpPr/>
          <p:nvPr/>
        </p:nvSpPr>
        <p:spPr>
          <a:xfrm>
            <a:off x="4498848" y="1892808"/>
            <a:ext cx="457200" cy="457200"/>
          </a:xfrm>
          <a:prstGeom prst="ellipse">
            <a:avLst/>
          </a:prstGeom>
          <a:solidFill>
            <a:srgbClr val="B8863A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4" name="Image 2" descr="/home/claude/work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476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492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1713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download &amp; upload line trends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chart: users connected vs. weather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quality by weather (square marks)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Shape 13"/>
          <p:cNvSpPr/>
          <p:nvPr/>
        </p:nvSpPr>
        <p:spPr>
          <a:xfrm>
            <a:off x="8247888" y="1892808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9" name="Image 3" descr="/home/claude/work/icons/chartpi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194767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2396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Views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26617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share (pie)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Weather-driven % breakdown (pie)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vs. download / upload comparison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Shape 17"/>
          <p:cNvSpPr/>
          <p:nvPr/>
        </p:nvSpPr>
        <p:spPr>
          <a:xfrm>
            <a:off x="777240" y="5084064"/>
            <a:ext cx="566928" cy="566928"/>
          </a:xfrm>
          <a:prstGeom prst="ellipse">
            <a:avLst/>
          </a:prstGeom>
          <a:solidFill>
            <a:srgbClr val="FFEBB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4" name="Image 4" descr="/home/claude/work/icons/lightbulb_plu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271" y="5152095"/>
            <a:ext cx="430865" cy="43086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495604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kern="0" spc="100" dirty="0">
                <a:solidFill>
                  <a:srgbClr val="E9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who want to dig deeper — every view responds to a shared weather filter for instant drill-down.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8863A"/>
                </a:solidFill>
                <a:latin typeface="Calibri"/>
              </a:rPr>
              <a:t>DASHBOARD 02 — SCREENSHOT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676656"/>
            <a:ext cx="1038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3A2233"/>
                </a:solidFill>
                <a:latin typeface="Cambria"/>
              </a:rPr>
              <a:t>Tableau — Inside the Network, Weather &amp; Tower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72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8A7A82"/>
                </a:solidFill>
                <a:latin typeface="Calibri"/>
              </a:rPr>
              <a:t>A dark-themed exploratory dashboard combining a custom Network Quality Score with weather- and hour-level breakdowns, filterable by weather and hour of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9812"/>
            <a:ext cx="6950000" cy="3480375"/>
          </a:xfrm>
          <a:prstGeom prst="roundRect">
            <a:avLst>
              <a:gd name="adj" fmla="val 6000"/>
            </a:avLst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_tabl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2319812"/>
            <a:ext cx="6770000" cy="3300375"/>
          </a:xfrm>
          <a:prstGeom prst="rect">
            <a:avLst/>
          </a:prstGeom>
          <a:ln w="9525">
            <a:solidFill>
              <a:srgbClr val="E3D3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18640" y="1620000"/>
            <a:ext cx="392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B8863A"/>
                </a:solidFill>
                <a:latin typeface="Calibri"/>
              </a:rPr>
              <a:t>What each visual on the page shows</a:t>
            </a:r>
          </a:p>
        </p:txBody>
      </p:sp>
      <p:sp>
        <p:nvSpPr>
          <p:cNvPr id="9" name="Oval 8"/>
          <p:cNvSpPr/>
          <p:nvPr/>
        </p:nvSpPr>
        <p:spPr>
          <a:xfrm>
            <a:off x="7718640" y="1990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8640" y="1960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KPI strip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640" y="2220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Five headline cards: avg. latency (105.1 ms), avg. download (52.09 Mbps), avg. upload (25.17 Mbps), a calculated Network Quality Score (73.51/100), and avg. connected users (531.1).</a:t>
            </a:r>
          </a:p>
        </p:txBody>
      </p:sp>
      <p:sp>
        <p:nvSpPr>
          <p:cNvPr id="12" name="Oval 11"/>
          <p:cNvSpPr/>
          <p:nvPr/>
        </p:nvSpPr>
        <p:spPr>
          <a:xfrm>
            <a:off x="7718640" y="2874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8640" y="2844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Connected user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640" y="3104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 stacked area/stream chart shows connected users across the 24-hour clock, coloured by weather condition (Clear, Rain, Snow, Storm).</a:t>
            </a:r>
          </a:p>
        </p:txBody>
      </p:sp>
      <p:sp>
        <p:nvSpPr>
          <p:cNvPr id="15" name="Oval 14"/>
          <p:cNvSpPr/>
          <p:nvPr/>
        </p:nvSpPr>
        <p:spPr>
          <a:xfrm>
            <a:off x="7718640" y="3758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8640" y="3728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Overall network quality donut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8640" y="3988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The 73.51 score is broken into weather contribution shares (about 62% Clear, 19% Rain, 12% Snow, 7% Storm) so the biggest driver of the score is visible at a glance.</a:t>
            </a:r>
          </a:p>
        </p:txBody>
      </p:sp>
      <p:sp>
        <p:nvSpPr>
          <p:cNvPr id="18" name="Oval 17"/>
          <p:cNvSpPr/>
          <p:nvPr/>
        </p:nvSpPr>
        <p:spPr>
          <a:xfrm>
            <a:off x="7718640" y="4642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8640" y="4612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Weather x score heatmap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640" y="4872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 weather (rows) by quality-band (1–5, columns) heat grid highlights which weather condition most often lands in the low- or high-quality bands.</a:t>
            </a:r>
          </a:p>
        </p:txBody>
      </p:sp>
      <p:sp>
        <p:nvSpPr>
          <p:cNvPr id="21" name="Oval 20"/>
          <p:cNvSpPr/>
          <p:nvPr/>
        </p:nvSpPr>
        <p:spPr>
          <a:xfrm>
            <a:off x="7718640" y="5526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8640" y="5496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Weather bars + hourly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8640" y="5756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Grouped bars compare avg. download vs. upload per weather type, and a multi-line chart tracks hourly network quality separately for each weather condition.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Telecom Network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fileexce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— Congestion &amp; Capacity Dashboard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PivotTable-driven dashboard sheet with a Region slicer, built on top of six supporting pivot tables.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9" name="Image 1" descr="/home/claude/work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9476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Views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6809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by hour of day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status distribution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band vs. congestion status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9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Shape 9"/>
          <p:cNvSpPr/>
          <p:nvPr/>
        </p:nvSpPr>
        <p:spPr>
          <a:xfrm>
            <a:off x="4498848" y="1892808"/>
            <a:ext cx="457200" cy="457200"/>
          </a:xfrm>
          <a:prstGeom prst="ellipse">
            <a:avLst/>
          </a:prstGeom>
          <a:solidFill>
            <a:srgbClr val="B8863A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4" name="Image 2" descr="/home/claude/work/icons/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476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492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Capacity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1713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congested towers, ranked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by city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congestion rate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BF2F6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Shape 13"/>
          <p:cNvSpPr/>
          <p:nvPr/>
        </p:nvSpPr>
        <p:spPr>
          <a:xfrm>
            <a:off x="8247888" y="1892808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9" name="Image 3" descr="/home/claude/work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194767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23960" y="18928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266176" y="256032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connected vs. congestion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slicer for live filtering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dashboard summary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Shape 17"/>
          <p:cNvSpPr/>
          <p:nvPr/>
        </p:nvSpPr>
        <p:spPr>
          <a:xfrm>
            <a:off x="777240" y="5084064"/>
            <a:ext cx="566928" cy="566928"/>
          </a:xfrm>
          <a:prstGeom prst="ellipse">
            <a:avLst/>
          </a:prstGeom>
          <a:solidFill>
            <a:srgbClr val="FFEBB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4" name="Image 4" descr="/home/claude/work/icons/lightbulb_plu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271" y="5152095"/>
            <a:ext cx="430865" cy="43086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495604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kern="0" spc="100" dirty="0">
                <a:solidFill>
                  <a:srgbClr val="E9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tracking congestion hot spots and capacity limits tower-by-tower, city-by-city.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D5578"/>
                </a:solidFill>
                <a:latin typeface="Calibri"/>
              </a:rPr>
              <a:t>DASHBOARD 03 — SCREENSHOT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676656"/>
            <a:ext cx="1038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3A2233"/>
                </a:solidFill>
                <a:latin typeface="Cambria"/>
              </a:rPr>
              <a:t>Excel — Inside the Congestion &amp; Capacity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72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8A7A82"/>
                </a:solidFill>
                <a:latin typeface="Calibri"/>
              </a:rPr>
              <a:t>A single PivotTable-driven sheet stitched together from six supporting PivotTables, with city, region, weather and network-type slicers wired to every chart.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6431"/>
            <a:ext cx="6950000" cy="3227137"/>
          </a:xfrm>
          <a:prstGeom prst="roundRect">
            <a:avLst>
              <a:gd name="adj" fmla="val 6000"/>
            </a:avLst>
          </a:prstGeom>
          <a:solidFill>
            <a:srgbClr val="FB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_excel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2446431"/>
            <a:ext cx="6770000" cy="3047137"/>
          </a:xfrm>
          <a:prstGeom prst="rect">
            <a:avLst/>
          </a:prstGeom>
          <a:ln w="9525">
            <a:solidFill>
              <a:srgbClr val="E3D3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18640" y="1620000"/>
            <a:ext cx="392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BD5578"/>
                </a:solidFill>
                <a:latin typeface="Calibri"/>
              </a:rPr>
              <a:t>What each panel on the sheet shows</a:t>
            </a:r>
          </a:p>
        </p:txBody>
      </p:sp>
      <p:sp>
        <p:nvSpPr>
          <p:cNvPr id="9" name="Oval 8"/>
          <p:cNvSpPr/>
          <p:nvPr/>
        </p:nvSpPr>
        <p:spPr>
          <a:xfrm>
            <a:off x="7718640" y="1990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8640" y="1960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KPI banner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640" y="2220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Three live cards: overall Congestion Rate (5.6%), Average Connected Users (531) and count of Overloaded Towers (15), all recalculating with the slicers.</a:t>
            </a:r>
          </a:p>
        </p:txBody>
      </p:sp>
      <p:sp>
        <p:nvSpPr>
          <p:cNvPr id="12" name="Oval 11"/>
          <p:cNvSpPr/>
          <p:nvPr/>
        </p:nvSpPr>
        <p:spPr>
          <a:xfrm>
            <a:off x="7718640" y="2874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8640" y="2844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City &amp; hourly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640" y="3104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 horizontal bar ranks tower count, avg. congestion and avg. users by city, next to a 24-hour line chart of total congestion — the two supporting pivots covered on the next slides.</a:t>
            </a:r>
          </a:p>
        </p:txBody>
      </p:sp>
      <p:sp>
        <p:nvSpPr>
          <p:cNvPr id="15" name="Oval 14"/>
          <p:cNvSpPr/>
          <p:nvPr/>
        </p:nvSpPr>
        <p:spPr>
          <a:xfrm>
            <a:off x="7718640" y="3758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8640" y="3728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Status split &amp; load bands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8640" y="3988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 donut breaks congestion into Congested vs Normal, and a stacked bar shows that split across four connected-user load bands (&lt;500, 500–799, 800–899, 900+).</a:t>
            </a:r>
          </a:p>
        </p:txBody>
      </p:sp>
      <p:sp>
        <p:nvSpPr>
          <p:cNvPr id="18" name="Oval 17"/>
          <p:cNvSpPr/>
          <p:nvPr/>
        </p:nvSpPr>
        <p:spPr>
          <a:xfrm>
            <a:off x="7718640" y="4642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8640" y="4612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Users vs congestion &amp; towers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640" y="4872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 bar compares raw congestion (0/1) volumes against connected users, and a second bar ranks the most congested cities/towers from Alexandria down to Mansoura.</a:t>
            </a:r>
          </a:p>
        </p:txBody>
      </p:sp>
      <p:sp>
        <p:nvSpPr>
          <p:cNvPr id="21" name="Oval 20"/>
          <p:cNvSpPr/>
          <p:nvPr/>
        </p:nvSpPr>
        <p:spPr>
          <a:xfrm>
            <a:off x="7718640" y="5526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8640" y="5496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Slicer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8640" y="5756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City, region, weather and network_type slicers on the left let anyone filter the whole dashboard down to a single city or condition without touching a formula.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Telecom Network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8863A"/>
                </a:solidFill>
                <a:latin typeface="Calibri"/>
              </a:rPr>
              <a:t>EXCEL — SUPPORTING PIVOTTABLE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676656"/>
            <a:ext cx="1038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3A2233"/>
                </a:solidFill>
                <a:latin typeface="Cambria"/>
              </a:rPr>
              <a:t>PivotTable: Congestion Status by Connected-User Load 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72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8A7A82"/>
                </a:solidFill>
                <a:latin typeface="Calibri"/>
              </a:rPr>
              <a:t>Row field is a custom load-band grouping of users_connected; column field is congestion_status; values are counts of tower_id readings.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82536"/>
            <a:ext cx="6950000" cy="3974926"/>
          </a:xfrm>
          <a:prstGeom prst="roundRect">
            <a:avLst>
              <a:gd name="adj" fmla="val 6000"/>
            </a:avLst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_excel_load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2072536"/>
            <a:ext cx="6770000" cy="3794926"/>
          </a:xfrm>
          <a:prstGeom prst="rect">
            <a:avLst/>
          </a:prstGeom>
          <a:ln w="9525">
            <a:solidFill>
              <a:srgbClr val="E3D3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18640" y="1620000"/>
            <a:ext cx="392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B8863A"/>
                </a:solidFill>
                <a:latin typeface="Calibri"/>
              </a:rPr>
              <a:t>Reading the PivotTable</a:t>
            </a:r>
          </a:p>
        </p:txBody>
      </p:sp>
      <p:sp>
        <p:nvSpPr>
          <p:cNvPr id="9" name="Oval 8"/>
          <p:cNvSpPr/>
          <p:nvPr/>
        </p:nvSpPr>
        <p:spPr>
          <a:xfrm>
            <a:off x="7718640" y="1990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8640" y="1960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How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640" y="2220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Rows = load band (&lt;500, 500–799, 800–899, 900+ connected users); Columns = Congested / Normal; Values = Count of tower_id, fed by the city, network_type, weather and region slicers.</a:t>
            </a:r>
          </a:p>
        </p:txBody>
      </p:sp>
      <p:sp>
        <p:nvSpPr>
          <p:cNvPr id="12" name="Oval 11"/>
          <p:cNvSpPr/>
          <p:nvPr/>
        </p:nvSpPr>
        <p:spPr>
          <a:xfrm>
            <a:off x="7718640" y="2874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8640" y="2844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Low load = always 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640" y="3104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Every reading under 800 connected users (1,659 in the &lt;500 band and 1,158 in the 500–799 band) comes back Normal — zero congestion at low load.</a:t>
            </a:r>
          </a:p>
        </p:txBody>
      </p:sp>
      <p:sp>
        <p:nvSpPr>
          <p:cNvPr id="15" name="Oval 14"/>
          <p:cNvSpPr/>
          <p:nvPr/>
        </p:nvSpPr>
        <p:spPr>
          <a:xfrm>
            <a:off x="7718640" y="3758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8640" y="3728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Congestion only appears at high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8640" y="3988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Congestion only shows up once load passes 800 users: 90 of 375 readings (24%) in the 800–899 band, and 113 of 413 readings (27%) in the 900+ band.</a:t>
            </a:r>
          </a:p>
        </p:txBody>
      </p:sp>
      <p:sp>
        <p:nvSpPr>
          <p:cNvPr id="18" name="Oval 17"/>
          <p:cNvSpPr/>
          <p:nvPr/>
        </p:nvSpPr>
        <p:spPr>
          <a:xfrm>
            <a:off x="7718640" y="4642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8640" y="4612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Chart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640" y="4872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The 100% stacked bar turns this into a clear visual: two solid red bars for the low-load bands, then a growing blue "Congested" slice appears for the two high-load bands.</a:t>
            </a:r>
          </a:p>
        </p:txBody>
      </p:sp>
      <p:sp>
        <p:nvSpPr>
          <p:cNvPr id="21" name="Oval 20"/>
          <p:cNvSpPr/>
          <p:nvPr/>
        </p:nvSpPr>
        <p:spPr>
          <a:xfrm>
            <a:off x="7718640" y="5526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8640" y="5496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8640" y="5756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This is the strongest evidence in the whole workbook that congestion is a high-load-band phenomenon, not something spread evenly across the network.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Telecom Network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D5578"/>
                </a:solidFill>
                <a:latin typeface="Calibri"/>
              </a:rPr>
              <a:t>EXCEL — SUPPORTING PIVOTTABLE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676656"/>
            <a:ext cx="1038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3A2233"/>
                </a:solidFill>
                <a:latin typeface="Cambria"/>
              </a:rPr>
              <a:t>PivotTable: Network Snapshot by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72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8A7A82"/>
                </a:solidFill>
                <a:latin typeface="Calibri"/>
              </a:rPr>
              <a:t>Row field is city; values are Average of users_connected, Average of congestion and Count of tower_id, driven by the weather, region and network_type slicers.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3338"/>
            <a:ext cx="6950000" cy="3833323"/>
          </a:xfrm>
          <a:prstGeom prst="roundRect">
            <a:avLst>
              <a:gd name="adj" fmla="val 6000"/>
            </a:avLst>
          </a:prstGeom>
          <a:solidFill>
            <a:srgbClr val="FB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_excel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2143338"/>
            <a:ext cx="6770000" cy="3653323"/>
          </a:xfrm>
          <a:prstGeom prst="rect">
            <a:avLst/>
          </a:prstGeom>
          <a:ln w="9525">
            <a:solidFill>
              <a:srgbClr val="E3D3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18640" y="1620000"/>
            <a:ext cx="392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BD5578"/>
                </a:solidFill>
                <a:latin typeface="Calibri"/>
              </a:rPr>
              <a:t>Reading the PivotTable</a:t>
            </a:r>
          </a:p>
        </p:txBody>
      </p:sp>
      <p:sp>
        <p:nvSpPr>
          <p:cNvPr id="9" name="Oval 8"/>
          <p:cNvSpPr/>
          <p:nvPr/>
        </p:nvSpPr>
        <p:spPr>
          <a:xfrm>
            <a:off x="7718640" y="1990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8640" y="1960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How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640" y="2220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Rows = city (Alexandria, Aswan, Cairo, Giza, Mansoura); Values = Average users_connected, Average congestion (%), Count of tower_id readings — 721 readings per city, 3,605 in total.</a:t>
            </a:r>
          </a:p>
        </p:txBody>
      </p:sp>
      <p:sp>
        <p:nvSpPr>
          <p:cNvPr id="12" name="Oval 11"/>
          <p:cNvSpPr/>
          <p:nvPr/>
        </p:nvSpPr>
        <p:spPr>
          <a:xfrm>
            <a:off x="7718640" y="2874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8640" y="2844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Users are fairly even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640" y="3104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Average connected users sit in a tight band across cities: 517 (Cairo) to 545 (Giza), against a network-wide average of 531 — no single city is dramatically busier.</a:t>
            </a:r>
          </a:p>
        </p:txBody>
      </p:sp>
      <p:sp>
        <p:nvSpPr>
          <p:cNvPr id="15" name="Oval 14"/>
          <p:cNvSpPr/>
          <p:nvPr/>
        </p:nvSpPr>
        <p:spPr>
          <a:xfrm>
            <a:off x="7718640" y="3758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8640" y="3728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Congestion is where cities diverge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8640" y="3988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Average congestion ranges from 4.6% (Mansoura, the calmest) up to 6.7% (Alexandria, the most congested) — a real gap even though user load is similar.</a:t>
            </a:r>
          </a:p>
        </p:txBody>
      </p:sp>
      <p:sp>
        <p:nvSpPr>
          <p:cNvPr id="18" name="Oval 17"/>
          <p:cNvSpPr/>
          <p:nvPr/>
        </p:nvSpPr>
        <p:spPr>
          <a:xfrm>
            <a:off x="7718640" y="4642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8640" y="4612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Chart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640" y="4872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The horizontal bar chart layers count of towers, avg. congestion and avg. users per city, making Alexandria and Giza stand out as the two cities worth prioritising for capacity work.</a:t>
            </a:r>
          </a:p>
        </p:txBody>
      </p:sp>
      <p:sp>
        <p:nvSpPr>
          <p:cNvPr id="21" name="Oval 20"/>
          <p:cNvSpPr/>
          <p:nvPr/>
        </p:nvSpPr>
        <p:spPr>
          <a:xfrm>
            <a:off x="7718640" y="5526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8640" y="5496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8640" y="5756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This pivot is the one that first flags Alexandria as a hotspot — a finding the "Most Congested Towers" pivot on the next slide confirms and ranks in full.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Telecom Network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8863A"/>
                </a:solidFill>
                <a:latin typeface="Calibri"/>
              </a:rPr>
              <a:t>EXCEL — SUPPORTING PIVOTTABLE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676656"/>
            <a:ext cx="1038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3A2233"/>
                </a:solidFill>
                <a:latin typeface="Cambria"/>
              </a:rPr>
              <a:t>PivotTable: Most Congested Cities, Ranked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72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8A7A82"/>
                </a:solidFill>
                <a:latin typeface="Calibri"/>
              </a:rPr>
              <a:t>Row field is city; the single value is Average of congestion, sorted to drive the "Most Congested Towers" ranked bar chart.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39321"/>
            <a:ext cx="6950000" cy="3861357"/>
          </a:xfrm>
          <a:prstGeom prst="roundRect">
            <a:avLst>
              <a:gd name="adj" fmla="val 6000"/>
            </a:avLst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_excel_to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2129321"/>
            <a:ext cx="6770000" cy="3681357"/>
          </a:xfrm>
          <a:prstGeom prst="rect">
            <a:avLst/>
          </a:prstGeom>
          <a:ln w="9525">
            <a:solidFill>
              <a:srgbClr val="E3D3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18640" y="1620000"/>
            <a:ext cx="392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B8863A"/>
                </a:solidFill>
                <a:latin typeface="Calibri"/>
              </a:rPr>
              <a:t>Reading the PivotTable</a:t>
            </a:r>
          </a:p>
        </p:txBody>
      </p:sp>
      <p:sp>
        <p:nvSpPr>
          <p:cNvPr id="9" name="Oval 8"/>
          <p:cNvSpPr/>
          <p:nvPr/>
        </p:nvSpPr>
        <p:spPr>
          <a:xfrm>
            <a:off x="7718640" y="1990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8640" y="1960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How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640" y="2220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Rows = city; Values = Average congestion (%); filtered live by city, region, network_type and congestion_status slicers so the ranking can be recomputed for any 4G/5G or Normal/Congested subset.</a:t>
            </a:r>
          </a:p>
        </p:txBody>
      </p:sp>
      <p:sp>
        <p:nvSpPr>
          <p:cNvPr id="12" name="Oval 11"/>
          <p:cNvSpPr/>
          <p:nvPr/>
        </p:nvSpPr>
        <p:spPr>
          <a:xfrm>
            <a:off x="7718640" y="2874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8640" y="2844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The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640" y="3104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Alexandria tops the list at 6.7% average congestion, followed by Giza (6.2%), Cairo (5.4%), Aswan (5.3%) and Mansoura lowest at 4.6% — against a 5.6% network-wide average.</a:t>
            </a:r>
          </a:p>
        </p:txBody>
      </p:sp>
      <p:sp>
        <p:nvSpPr>
          <p:cNvPr id="15" name="Oval 14"/>
          <p:cNvSpPr/>
          <p:nvPr/>
        </p:nvSpPr>
        <p:spPr>
          <a:xfrm>
            <a:off x="7718640" y="3758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8640" y="3728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Chart translation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8640" y="3988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The horizontal bar chart lists cities from most to least congested, giving a one-glance answer to "where should capacity upgrades happen first?"</a:t>
            </a:r>
          </a:p>
        </p:txBody>
      </p:sp>
      <p:sp>
        <p:nvSpPr>
          <p:cNvPr id="18" name="Oval 17"/>
          <p:cNvSpPr/>
          <p:nvPr/>
        </p:nvSpPr>
        <p:spPr>
          <a:xfrm>
            <a:off x="7718640" y="4642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8640" y="4612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Congestion_status slicer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640" y="4872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Because the sheet also carries a congestion_status slicer, the same ranking can be recomputed for only the already-Congested readings to see which city contributes most to the problem.</a:t>
            </a:r>
          </a:p>
        </p:txBody>
      </p:sp>
      <p:sp>
        <p:nvSpPr>
          <p:cNvPr id="21" name="Oval 20"/>
          <p:cNvSpPr/>
          <p:nvPr/>
        </p:nvSpPr>
        <p:spPr>
          <a:xfrm>
            <a:off x="7718640" y="5526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8640" y="5496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8640" y="5756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This is the pivot the dashboard's "Overloaded Towers: 15" KPI and the city bar chart draw from directly — it is the operational priority list for the network team.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Telecom Network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D5578"/>
                </a:solidFill>
                <a:latin typeface="Calibri"/>
              </a:rPr>
              <a:t>EXCEL — SUPPORTING PIVOTTABLE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676656"/>
            <a:ext cx="1038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3A2233"/>
                </a:solidFill>
                <a:latin typeface="Cambria"/>
              </a:rPr>
              <a:t>PivotTable: Overall Congestion Status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72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8A7A82"/>
                </a:solidFill>
                <a:latin typeface="Calibri"/>
              </a:rPr>
              <a:t>Row field is congestion_status; the value is Count of tower_id, powering the donut used as the dashboard's headline congestion-rate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54591"/>
            <a:ext cx="6950000" cy="2830816"/>
          </a:xfrm>
          <a:prstGeom prst="roundRect">
            <a:avLst>
              <a:gd name="adj" fmla="val 6000"/>
            </a:avLst>
          </a:prstGeom>
          <a:solidFill>
            <a:srgbClr val="FB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_excel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2644591"/>
            <a:ext cx="6770000" cy="2650816"/>
          </a:xfrm>
          <a:prstGeom prst="rect">
            <a:avLst/>
          </a:prstGeom>
          <a:ln w="9525">
            <a:solidFill>
              <a:srgbClr val="E3D3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18640" y="1620000"/>
            <a:ext cx="392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BD5578"/>
                </a:solidFill>
                <a:latin typeface="Calibri"/>
              </a:rPr>
              <a:t>Reading the PivotTable</a:t>
            </a:r>
          </a:p>
        </p:txBody>
      </p:sp>
      <p:sp>
        <p:nvSpPr>
          <p:cNvPr id="9" name="Oval 8"/>
          <p:cNvSpPr/>
          <p:nvPr/>
        </p:nvSpPr>
        <p:spPr>
          <a:xfrm>
            <a:off x="7718640" y="1990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8640" y="1960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How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640" y="2220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Rows = Congested / Normal; Values = Count of tower_id; sliced live by network_type, city and region so the split can be checked for any subset of the network.</a:t>
            </a:r>
          </a:p>
        </p:txBody>
      </p:sp>
      <p:sp>
        <p:nvSpPr>
          <p:cNvPr id="12" name="Oval 11"/>
          <p:cNvSpPr/>
          <p:nvPr/>
        </p:nvSpPr>
        <p:spPr>
          <a:xfrm>
            <a:off x="7718640" y="2874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8640" y="2844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The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640" y="3104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Out of 3,605 total readings, 203 are flagged Congested and 3,402 are Normal — a 5.6% network-wide congestion rate, matching the KPI card on the main dashboard.</a:t>
            </a:r>
          </a:p>
        </p:txBody>
      </p:sp>
      <p:sp>
        <p:nvSpPr>
          <p:cNvPr id="15" name="Oval 14"/>
          <p:cNvSpPr/>
          <p:nvPr/>
        </p:nvSpPr>
        <p:spPr>
          <a:xfrm>
            <a:off x="7718640" y="3758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8640" y="3728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Chart translation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8640" y="3988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The donut renders this as a small 6% blue slice against a 94% red ring, making the point instantly: congestion is real but affects a small minority of readings.</a:t>
            </a:r>
          </a:p>
        </p:txBody>
      </p:sp>
      <p:sp>
        <p:nvSpPr>
          <p:cNvPr id="18" name="Oval 17"/>
          <p:cNvSpPr/>
          <p:nvPr/>
        </p:nvSpPr>
        <p:spPr>
          <a:xfrm>
            <a:off x="7718640" y="4642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8640" y="4612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Why a donut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640" y="4872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A two-category split like Congested vs Normal is exactly the case a donut/pie is built for — one glance answers "is congestion rare or common?" without reading numbers.</a:t>
            </a:r>
          </a:p>
        </p:txBody>
      </p:sp>
      <p:sp>
        <p:nvSpPr>
          <p:cNvPr id="21" name="Oval 20"/>
          <p:cNvSpPr/>
          <p:nvPr/>
        </p:nvSpPr>
        <p:spPr>
          <a:xfrm>
            <a:off x="7718640" y="5526000"/>
            <a:ext cx="90000" cy="90000"/>
          </a:xfrm>
          <a:prstGeom prst="ellipse">
            <a:avLst/>
          </a:prstGeom>
          <a:solidFill>
            <a:srgbClr val="BD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8640" y="5496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8640" y="5756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This is the single source of truth behind the 5.6% Congestion Rate KPI repeated across the Power BI, Tableau and Excel dashboards.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Telecom Network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8863A"/>
                </a:solidFill>
                <a:latin typeface="Calibri"/>
              </a:rPr>
              <a:t>EXCEL — SUPPORTING PIVOTTABLE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676656"/>
            <a:ext cx="1038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3A2233"/>
                </a:solidFill>
                <a:latin typeface="Cambria"/>
              </a:rPr>
              <a:t>PivotTable: Average Congestion by Hour of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72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8A7A82"/>
                </a:solidFill>
                <a:latin typeface="Calibri"/>
              </a:rPr>
              <a:t>Row field is hour (0–23); the value is Average of congestion, powering the "Total" line chart on the main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6387"/>
            <a:ext cx="6950000" cy="4367225"/>
          </a:xfrm>
          <a:prstGeom prst="roundRect">
            <a:avLst>
              <a:gd name="adj" fmla="val 6000"/>
            </a:avLst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g_excel_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1876387"/>
            <a:ext cx="6770000" cy="4187225"/>
          </a:xfrm>
          <a:prstGeom prst="rect">
            <a:avLst/>
          </a:prstGeom>
          <a:ln w="9525">
            <a:solidFill>
              <a:srgbClr val="E3D3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18640" y="1620000"/>
            <a:ext cx="392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B8863A"/>
                </a:solidFill>
                <a:latin typeface="Calibri"/>
              </a:rPr>
              <a:t>Reading the PivotTable</a:t>
            </a:r>
          </a:p>
        </p:txBody>
      </p:sp>
      <p:sp>
        <p:nvSpPr>
          <p:cNvPr id="9" name="Oval 8"/>
          <p:cNvSpPr/>
          <p:nvPr/>
        </p:nvSpPr>
        <p:spPr>
          <a:xfrm>
            <a:off x="7718640" y="1990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8640" y="1960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How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640" y="2220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Rows = hour of day (0 through 23); Values = Average congestion (%); sliced live by network_type, region and city so any city's hourly pattern can be isolated.</a:t>
            </a:r>
          </a:p>
        </p:txBody>
      </p:sp>
      <p:sp>
        <p:nvSpPr>
          <p:cNvPr id="12" name="Oval 11"/>
          <p:cNvSpPr/>
          <p:nvPr/>
        </p:nvSpPr>
        <p:spPr>
          <a:xfrm>
            <a:off x="7718640" y="2874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8640" y="2844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A choppy pattern, not a smooth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640" y="3104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Congestion swings hour to hour rather than following one clean peak — values range from a low of 2.7% (hours 3 and 19) up to a high of 11.3% at hour 18 (6 PM).</a:t>
            </a:r>
          </a:p>
        </p:txBody>
      </p:sp>
      <p:sp>
        <p:nvSpPr>
          <p:cNvPr id="15" name="Oval 14"/>
          <p:cNvSpPr/>
          <p:nvPr/>
        </p:nvSpPr>
        <p:spPr>
          <a:xfrm>
            <a:off x="7718640" y="3758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8640" y="3728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Evening stands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8640" y="3988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Hour 18 is the clearest spike in the series at 11.3%, roughly double the 5.6% network-wide average, consistent with an evening usage peak.</a:t>
            </a:r>
          </a:p>
        </p:txBody>
      </p:sp>
      <p:sp>
        <p:nvSpPr>
          <p:cNvPr id="18" name="Oval 17"/>
          <p:cNvSpPr/>
          <p:nvPr/>
        </p:nvSpPr>
        <p:spPr>
          <a:xfrm>
            <a:off x="7718640" y="4642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8640" y="4612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Chart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8640" y="4872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The line chart plots all 24 hourly averages against the 0–12% axis, so peaks like hour 18 (and the smaller peaks around hours 1, 5 and 17) are easy to spot at a glance.</a:t>
            </a:r>
          </a:p>
        </p:txBody>
      </p:sp>
      <p:sp>
        <p:nvSpPr>
          <p:cNvPr id="21" name="Oval 20"/>
          <p:cNvSpPr/>
          <p:nvPr/>
        </p:nvSpPr>
        <p:spPr>
          <a:xfrm>
            <a:off x="7718640" y="5526000"/>
            <a:ext cx="90000" cy="90000"/>
          </a:xfrm>
          <a:prstGeom prst="ellipse">
            <a:avLst/>
          </a:prstGeom>
          <a:solidFill>
            <a:srgbClr val="B8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8640" y="5496000"/>
            <a:ext cx="37547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2233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8640" y="5756000"/>
            <a:ext cx="3754720" cy="5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4A4149"/>
                </a:solidFill>
                <a:latin typeface="Calibri"/>
              </a:rPr>
              <a:t>This pivot is what lets the recommendations slide argue for planning capacity by time-of-day rather than by raw user counts alone.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Telecom Network Performance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7A8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" name="Image 0" descr="/home/claude/work/icons/light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518648"/>
            <a:ext cx="389169" cy="38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BD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61872" y="6766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7" name="Image 1" descr="/home/claude/work/icons/cloudsu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60934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5544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has only a weak effect on performance.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0" name="Image 2" descr="/home/claude/work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267712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221284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load doesn't meaningfully affect download speed (r = 0.02).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2871216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3" name="Image 3" descr="/home/claude/work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2926080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0432" y="287121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is the clearest driver — performance swings across the day.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3529584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6" name="Image 4" descr="/home/claude/work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3584448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0432" y="352958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moderately raises latency (r = 0.31), not speed.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4187952"/>
            <a:ext cx="457200" cy="457200"/>
          </a:xfrm>
          <a:prstGeom prst="ellipse">
            <a:avLst/>
          </a:prstGeom>
          <a:solidFill>
            <a:srgbClr val="BD557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9" name="Image 5" descr="/home/claude/work/icons/brai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4242816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70432" y="418795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can't predict download speed from these features (R² ≈ 0).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7315200" y="1554480"/>
            <a:ext cx="4343400" cy="4480560"/>
          </a:xfrm>
          <a:prstGeom prst="roundRect">
            <a:avLst>
              <a:gd name="adj" fmla="val 2105"/>
            </a:avLst>
          </a:prstGeom>
          <a:solidFill>
            <a:srgbClr val="601D49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Text 14"/>
          <p:cNvSpPr/>
          <p:nvPr/>
        </p:nvSpPr>
        <p:spPr>
          <a:xfrm>
            <a:off x="758952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9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7589520" y="219456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capacity around time-of-day patterns, not user counts alone.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congestion as a latency-reduction lever, separate from speed upgrades.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richer features (signal strength, tower hardware, backhaul type) to improve future prediction models.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3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three dashboards for different audiences: Power BI for executives, Tableau for analysts, Excel for operations teams.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0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2011680"/>
            <a:ext cx="1097280" cy="1097280"/>
          </a:xfrm>
          <a:prstGeom prst="ellipse">
            <a:avLst/>
          </a:prstGeom>
          <a:ln w="17780">
            <a:solidFill>
              <a:srgbClr val="7A356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4846320" y="1463040"/>
            <a:ext cx="2194560" cy="2194560"/>
          </a:xfrm>
          <a:prstGeom prst="ellipse">
            <a:avLst/>
          </a:prstGeom>
          <a:ln w="17780">
            <a:solidFill>
              <a:srgbClr val="7A356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4297680" y="914400"/>
            <a:ext cx="3291840" cy="3291840"/>
          </a:xfrm>
          <a:prstGeom prst="ellipse">
            <a:avLst/>
          </a:prstGeom>
          <a:ln w="17780">
            <a:solidFill>
              <a:srgbClr val="7A356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5623560" y="2240280"/>
            <a:ext cx="914400" cy="914400"/>
          </a:xfrm>
          <a:prstGeom prst="ellipse">
            <a:avLst/>
          </a:prstGeom>
          <a:solidFill>
            <a:srgbClr val="7A3560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6" name="Image 0" descr="/home/claude/work/icons/signal_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3500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Performance Analysis  —  Python · Power BI · Tableau · Excel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3174</Words>
  <Application>Microsoft Office PowerPoint</Application>
  <PresentationFormat>Widescreen</PresentationFormat>
  <Paragraphs>353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Ezz El-Din Ahmed</cp:lastModifiedBy>
  <cp:revision>2</cp:revision>
  <dcterms:created xsi:type="dcterms:W3CDTF">2026-08-30T19:13:55Z</dcterms:created>
  <dcterms:modified xsi:type="dcterms:W3CDTF">2026-08-31T15:36:00Z</dcterms:modified>
</cp:coreProperties>
</file>